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6" r:id="rId1"/>
  </p:sldMasterIdLst>
  <p:notesMasterIdLst>
    <p:notesMasterId r:id="rId13"/>
  </p:notesMasterIdLst>
  <p:sldIdLst>
    <p:sldId id="256" r:id="rId2"/>
    <p:sldId id="263" r:id="rId3"/>
    <p:sldId id="264" r:id="rId4"/>
    <p:sldId id="265" r:id="rId5"/>
    <p:sldId id="266" r:id="rId6"/>
    <p:sldId id="257" r:id="rId7"/>
    <p:sldId id="258" r:id="rId8"/>
    <p:sldId id="261" r:id="rId9"/>
    <p:sldId id="260" r:id="rId10"/>
    <p:sldId id="259" r:id="rId11"/>
    <p:sldId id="262" r:id="rId12"/>
  </p:sldIdLst>
  <p:sldSz cx="14630400" cy="8229600"/>
  <p:notesSz cx="8229600" cy="14630400"/>
  <p:embeddedFontLst>
    <p:embeddedFont>
      <p:font typeface="Garamond" panose="02020404030301010803" pitchFamily="18" charset="0"/>
      <p:regular r:id="rId14"/>
      <p:bold r:id="rId15"/>
      <p:italic r:id="rId16"/>
    </p:embeddedFont>
    <p:embeddedFont>
      <p:font typeface="Nunito Semi Bold" panose="02020500000000000000" charset="0"/>
      <p:regular r:id="rId17"/>
    </p:embeddedFont>
    <p:embeddedFont>
      <p:font typeface="PT Sans" panose="020B050302020302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263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0878" y="2245358"/>
            <a:ext cx="8178803" cy="1818640"/>
          </a:xfrm>
        </p:spPr>
        <p:txBody>
          <a:bodyPr anchor="b">
            <a:noAutofit/>
          </a:bodyPr>
          <a:lstStyle>
            <a:lvl1pPr algn="ctr">
              <a:defRPr sz="648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0878" y="4389117"/>
            <a:ext cx="8178803" cy="1584962"/>
          </a:xfrm>
        </p:spPr>
        <p:txBody>
          <a:bodyPr anchor="t">
            <a:normAutofit/>
          </a:bodyPr>
          <a:lstStyle>
            <a:lvl1pPr marL="0" indent="0" algn="ctr">
              <a:buNone/>
              <a:defRPr sz="2520">
                <a:solidFill>
                  <a:schemeClr val="tx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579879" y="6045196"/>
            <a:ext cx="1076960" cy="33528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30877" y="6045196"/>
            <a:ext cx="6257562" cy="335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48281" y="6045196"/>
            <a:ext cx="661400" cy="33528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3230879" y="4226557"/>
            <a:ext cx="8178802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58348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5510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8083" y="2103127"/>
            <a:ext cx="9790426" cy="2187017"/>
          </a:xfrm>
        </p:spPr>
        <p:txBody>
          <a:bodyPr anchor="b">
            <a:normAutofit/>
          </a:bodyPr>
          <a:lstStyle>
            <a:lvl1pPr algn="ctr">
              <a:defRPr sz="528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8080" y="4615262"/>
            <a:ext cx="9790428" cy="1145456"/>
          </a:xfrm>
        </p:spPr>
        <p:txBody>
          <a:bodyPr anchor="t">
            <a:normAutofit/>
          </a:bodyPr>
          <a:lstStyle>
            <a:lvl1pPr marL="0" indent="0" algn="ctr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415268" y="4452702"/>
            <a:ext cx="9796056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15209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58138" y="3072384"/>
            <a:ext cx="5661965" cy="3972154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17613" y="3072384"/>
            <a:ext cx="5661965" cy="3972154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74838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3190240"/>
            <a:ext cx="5661965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54480" y="3891915"/>
            <a:ext cx="5661965" cy="3159126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16805" y="3190240"/>
            <a:ext cx="5661965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16805" y="3891915"/>
            <a:ext cx="5661965" cy="3159126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42689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11347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84199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2574" y="1666241"/>
            <a:ext cx="4462146" cy="1645920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2402" y="1178558"/>
            <a:ext cx="6563359" cy="5872482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2574" y="3637278"/>
            <a:ext cx="4462146" cy="2926085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675403" y="3495040"/>
            <a:ext cx="42173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77531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79" y="2260598"/>
            <a:ext cx="7490179" cy="1645920"/>
          </a:xfrm>
        </p:spPr>
        <p:txBody>
          <a:bodyPr anchor="b">
            <a:normAutofit/>
          </a:bodyPr>
          <a:lstStyle>
            <a:lvl1pPr algn="ctr">
              <a:defRPr sz="336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3798" y="1249680"/>
            <a:ext cx="3676016" cy="573024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79" y="3906518"/>
            <a:ext cx="7490179" cy="2194560"/>
          </a:xfrm>
        </p:spPr>
        <p:txBody>
          <a:bodyPr anchor="t">
            <a:normAutofit/>
          </a:bodyPr>
          <a:lstStyle>
            <a:lvl1pPr marL="0" indent="0" algn="ctr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81188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5778498"/>
            <a:ext cx="11531599" cy="680086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49713" y="1249679"/>
            <a:ext cx="12127166" cy="4003043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81" y="6458584"/>
            <a:ext cx="11531599" cy="592454"/>
          </a:xfrm>
        </p:spPr>
        <p:txBody>
          <a:bodyPr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8143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642" y="1178558"/>
            <a:ext cx="11511278" cy="3545842"/>
          </a:xfrm>
        </p:spPr>
        <p:txBody>
          <a:bodyPr anchor="ctr">
            <a:normAutofit/>
          </a:bodyPr>
          <a:lstStyle>
            <a:lvl1pPr algn="ctr">
              <a:defRPr sz="384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4642" y="5212080"/>
            <a:ext cx="11511278" cy="18389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5403" y="4968239"/>
            <a:ext cx="1128875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45217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1178558"/>
            <a:ext cx="11155678" cy="2844802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09775" y="4023360"/>
            <a:ext cx="10607042" cy="70104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400"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212080"/>
            <a:ext cx="11531599" cy="18389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34416" y="105595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20320" y="339344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675403" y="4968239"/>
            <a:ext cx="1128875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89915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2" y="3970297"/>
            <a:ext cx="11531602" cy="1762560"/>
          </a:xfrm>
        </p:spPr>
        <p:txBody>
          <a:bodyPr anchor="b">
            <a:normAutofit/>
          </a:bodyPr>
          <a:lstStyle>
            <a:lvl1pPr algn="l">
              <a:defRPr sz="384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732857"/>
            <a:ext cx="11531602" cy="103248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22822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1178558"/>
            <a:ext cx="11155678" cy="2692402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54481" y="4367174"/>
            <a:ext cx="11531602" cy="1064362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435600"/>
            <a:ext cx="11531602" cy="161544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34416" y="105595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20320" y="311911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675403" y="4114800"/>
            <a:ext cx="1128875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23676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1178558"/>
            <a:ext cx="11531599" cy="269240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554481" y="4356201"/>
            <a:ext cx="11531602" cy="100949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3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5364480"/>
            <a:ext cx="11531604" cy="168656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5403" y="4114800"/>
            <a:ext cx="1128875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7733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6857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99228" y="1178558"/>
            <a:ext cx="2269074" cy="587248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54478" y="1178558"/>
            <a:ext cx="8919630" cy="5872481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636668" y="1188720"/>
            <a:ext cx="0" cy="585216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96497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0723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49566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7080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0538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75469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8783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4483" y="1178559"/>
            <a:ext cx="11521435" cy="156464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3068319"/>
            <a:ext cx="11521435" cy="39827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13001" y="7162800"/>
            <a:ext cx="1920240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54481" y="7162800"/>
            <a:ext cx="8767080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24682" y="7162800"/>
            <a:ext cx="651236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872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11" r:id="rId23"/>
  </p:sldLayoutIdLst>
  <p:hf sldNum="0" hdr="0" ftr="0" dt="0"/>
  <p:txStyles>
    <p:titleStyle>
      <a:lvl1pPr algn="ctr" defTabSz="548640" rtl="0" eaLnBrk="1" latinLnBrk="0" hangingPunct="1">
        <a:spcBef>
          <a:spcPct val="0"/>
        </a:spcBef>
        <a:buNone/>
        <a:defRPr sz="528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8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16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92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3" y="1387011"/>
            <a:ext cx="11645378" cy="270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zh-TW" altLang="en-US" sz="8800" dirty="0">
                <a:solidFill>
                  <a:srgbClr val="00B0F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全台灣</a:t>
            </a:r>
            <a:r>
              <a:rPr lang="en-US" altLang="zh-TW" sz="8800" dirty="0">
                <a:solidFill>
                  <a:srgbClr val="00B0F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22</a:t>
            </a:r>
            <a:r>
              <a:rPr lang="zh-TW" altLang="en-US" sz="8800" dirty="0">
                <a:solidFill>
                  <a:srgbClr val="00B0F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縣市天氣</a:t>
            </a:r>
            <a:endParaRPr lang="en-US" sz="8800" dirty="0">
              <a:solidFill>
                <a:srgbClr val="00B0F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37724" y="445472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111534106陳博源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400F773-585F-B7E8-9994-CCE56D004DC4}"/>
              </a:ext>
            </a:extLst>
          </p:cNvPr>
          <p:cNvSpPr/>
          <p:nvPr/>
        </p:nvSpPr>
        <p:spPr>
          <a:xfrm>
            <a:off x="961014" y="1014219"/>
            <a:ext cx="1052721" cy="660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zh-TW" altLang="en-US" sz="3500" dirty="0"/>
              <a:t>新增</a:t>
            </a:r>
            <a:endParaRPr lang="en-US" sz="3500" dirty="0"/>
          </a:p>
        </p:txBody>
      </p:sp>
      <p:pic>
        <p:nvPicPr>
          <p:cNvPr id="6" name="圖片 5" descr="一張含有 文字, 螢幕擷取畫面, 軟體, 多媒體 的圖片&#10;&#10;AI 產生的內容可能不正確。">
            <a:extLst>
              <a:ext uri="{FF2B5EF4-FFF2-40B4-BE49-F238E27FC236}">
                <a16:creationId xmlns:a16="http://schemas.microsoft.com/office/drawing/2014/main" id="{7A36B025-1F00-8C93-443A-35747251D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744" y="2414427"/>
            <a:ext cx="8890306" cy="5082220"/>
          </a:xfrm>
          <a:prstGeom prst="rect">
            <a:avLst/>
          </a:prstGeom>
        </p:spPr>
      </p:pic>
      <p:pic>
        <p:nvPicPr>
          <p:cNvPr id="8" name="圖片 7" descr="一張含有 文字, 字型, 標誌, 螢幕擷取畫面 的圖片&#10;&#10;AI 產生的內容可能不正確。">
            <a:extLst>
              <a:ext uri="{FF2B5EF4-FFF2-40B4-BE49-F238E27FC236}">
                <a16:creationId xmlns:a16="http://schemas.microsoft.com/office/drawing/2014/main" id="{C8580C97-5988-3D23-1A05-C18002945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014" y="5868448"/>
            <a:ext cx="2724530" cy="1095528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236A35A5-C232-4679-57BD-2768F783313C}"/>
              </a:ext>
            </a:extLst>
          </p:cNvPr>
          <p:cNvSpPr/>
          <p:nvPr/>
        </p:nvSpPr>
        <p:spPr>
          <a:xfrm>
            <a:off x="961013" y="4532808"/>
            <a:ext cx="2460281" cy="660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zh-TW" altLang="en-US" sz="3500" dirty="0"/>
              <a:t>點加入最愛</a:t>
            </a:r>
            <a:br>
              <a:rPr lang="en-US" altLang="zh-TW" sz="3500" dirty="0"/>
            </a:br>
            <a:r>
              <a:rPr lang="zh-TW" altLang="en-US" sz="3500" dirty="0"/>
              <a:t>可以新增地區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3112013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035825-F5A4-D9A0-9B0F-9F28DF2517C7}"/>
              </a:ext>
            </a:extLst>
          </p:cNvPr>
          <p:cNvSpPr/>
          <p:nvPr/>
        </p:nvSpPr>
        <p:spPr>
          <a:xfrm>
            <a:off x="961014" y="1014219"/>
            <a:ext cx="1052721" cy="660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zh-TW" altLang="en-US" sz="3500" dirty="0"/>
              <a:t>修改</a:t>
            </a:r>
            <a:endParaRPr lang="en-US" sz="3500" dirty="0"/>
          </a:p>
        </p:txBody>
      </p:sp>
      <p:pic>
        <p:nvPicPr>
          <p:cNvPr id="4" name="圖片 3" descr="一張含有 文字, 螢幕擷取畫面, 字型, 數位鐘 的圖片&#10;&#10;AI 產生的內容可能不正確。">
            <a:extLst>
              <a:ext uri="{FF2B5EF4-FFF2-40B4-BE49-F238E27FC236}">
                <a16:creationId xmlns:a16="http://schemas.microsoft.com/office/drawing/2014/main" id="{5B7EF273-2160-38B4-81BF-D8E4E2F4A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014" y="4605863"/>
            <a:ext cx="4296375" cy="1648055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24A50DD2-19C2-B3B0-E5AD-786B42E22F8A}"/>
              </a:ext>
            </a:extLst>
          </p:cNvPr>
          <p:cNvSpPr/>
          <p:nvPr/>
        </p:nvSpPr>
        <p:spPr>
          <a:xfrm>
            <a:off x="1077897" y="3188356"/>
            <a:ext cx="3237249" cy="660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zh-TW" altLang="en-US" sz="3500" dirty="0"/>
              <a:t>在我的最愛裡面有</a:t>
            </a:r>
            <a:br>
              <a:rPr lang="en-US" altLang="zh-TW" sz="3500" dirty="0"/>
            </a:br>
            <a:r>
              <a:rPr lang="zh-TW" altLang="en-US" sz="3500" dirty="0"/>
              <a:t>修改地區的功能</a:t>
            </a:r>
            <a:endParaRPr lang="en-US" sz="3500" dirty="0"/>
          </a:p>
        </p:txBody>
      </p:sp>
      <p:pic>
        <p:nvPicPr>
          <p:cNvPr id="7" name="圖片 6" descr="一張含有 文字, 螢幕擷取畫面, 字型, 行 的圖片&#10;&#10;AI 產生的內容可能不正確。">
            <a:extLst>
              <a:ext uri="{FF2B5EF4-FFF2-40B4-BE49-F238E27FC236}">
                <a16:creationId xmlns:a16="http://schemas.microsoft.com/office/drawing/2014/main" id="{C3E667B2-8A0D-B03E-53B1-026888815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365" y="1674688"/>
            <a:ext cx="6096851" cy="2581635"/>
          </a:xfrm>
          <a:prstGeom prst="rect">
            <a:avLst/>
          </a:prstGeom>
        </p:spPr>
      </p:pic>
      <p:pic>
        <p:nvPicPr>
          <p:cNvPr id="9" name="圖片 8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BE6F9830-E453-393B-6FC8-F796D0884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5104" y="4968369"/>
            <a:ext cx="4382112" cy="2114845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000BCFDE-EFBB-BB3E-EA5C-C3D78DC23DD8}"/>
              </a:ext>
            </a:extLst>
          </p:cNvPr>
          <p:cNvSpPr/>
          <p:nvPr/>
        </p:nvSpPr>
        <p:spPr>
          <a:xfrm>
            <a:off x="6262479" y="1081819"/>
            <a:ext cx="1052721" cy="660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zh-TW" altLang="en-US" sz="3500" dirty="0"/>
              <a:t>這裡直接修改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1878221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909EBFD-48A8-E5A7-D945-106A53E96E50}"/>
              </a:ext>
            </a:extLst>
          </p:cNvPr>
          <p:cNvSpPr/>
          <p:nvPr/>
        </p:nvSpPr>
        <p:spPr>
          <a:xfrm>
            <a:off x="961014" y="1014219"/>
            <a:ext cx="1052721" cy="660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zh-TW" altLang="en-US" sz="3500" dirty="0"/>
              <a:t>刪除</a:t>
            </a:r>
            <a:endParaRPr lang="en-US" sz="3500" dirty="0"/>
          </a:p>
        </p:txBody>
      </p:sp>
      <p:pic>
        <p:nvPicPr>
          <p:cNvPr id="4" name="圖片 3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41AD157D-7FB8-4ECF-3D47-35F6538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76" y="3729765"/>
            <a:ext cx="4239217" cy="1838582"/>
          </a:xfrm>
          <a:prstGeom prst="rect">
            <a:avLst/>
          </a:prstGeom>
        </p:spPr>
      </p:pic>
      <p:pic>
        <p:nvPicPr>
          <p:cNvPr id="6" name="圖片 5" descr="一張含有 文字, 螢幕擷取畫面, 字型, 標誌 的圖片&#10;&#10;AI 產生的內容可能不正確。">
            <a:extLst>
              <a:ext uri="{FF2B5EF4-FFF2-40B4-BE49-F238E27FC236}">
                <a16:creationId xmlns:a16="http://schemas.microsoft.com/office/drawing/2014/main" id="{834EB93A-A3DC-9F30-9DB5-F8F606111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304" y="3601160"/>
            <a:ext cx="4544059" cy="2095792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3523359A-67BA-D8B6-C0CC-A9AA85DFBA05}"/>
              </a:ext>
            </a:extLst>
          </p:cNvPr>
          <p:cNvSpPr/>
          <p:nvPr/>
        </p:nvSpPr>
        <p:spPr>
          <a:xfrm>
            <a:off x="1487374" y="2697468"/>
            <a:ext cx="1052721" cy="660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zh-TW" altLang="en-US" sz="3500" dirty="0"/>
              <a:t>可以直接按刪除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1191919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DA1C1D-8560-5906-080E-919A1A81A45A}"/>
              </a:ext>
            </a:extLst>
          </p:cNvPr>
          <p:cNvSpPr/>
          <p:nvPr/>
        </p:nvSpPr>
        <p:spPr>
          <a:xfrm>
            <a:off x="961014" y="1014219"/>
            <a:ext cx="1052721" cy="660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zh-TW" altLang="en-US" sz="3500" dirty="0"/>
              <a:t>更新</a:t>
            </a:r>
            <a:endParaRPr lang="en-US" altLang="zh-TW" sz="3500" dirty="0"/>
          </a:p>
          <a:p>
            <a:pPr marL="0" indent="0" algn="l">
              <a:lnSpc>
                <a:spcPts val="4400"/>
              </a:lnSpc>
              <a:buNone/>
            </a:pPr>
            <a:endParaRPr lang="en-US" sz="3500" dirty="0"/>
          </a:p>
        </p:txBody>
      </p:sp>
      <p:pic>
        <p:nvPicPr>
          <p:cNvPr id="4" name="圖片 3" descr="一張含有 文字, 螢幕擷取畫面, 字型, 標誌 的圖片&#10;&#10;AI 產生的內容可能不正確。">
            <a:extLst>
              <a:ext uri="{FF2B5EF4-FFF2-40B4-BE49-F238E27FC236}">
                <a16:creationId xmlns:a16="http://schemas.microsoft.com/office/drawing/2014/main" id="{082B859F-6E25-CD1B-5588-36AA79C35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53" y="1822983"/>
            <a:ext cx="4858428" cy="2076740"/>
          </a:xfrm>
          <a:prstGeom prst="rect">
            <a:avLst/>
          </a:prstGeom>
        </p:spPr>
      </p:pic>
      <p:pic>
        <p:nvPicPr>
          <p:cNvPr id="6" name="圖片 5" descr="一張含有 文字, 螢幕擷取畫面, 字型, 多媒體 的圖片&#10;&#10;AI 產生的內容可能不正確。">
            <a:extLst>
              <a:ext uri="{FF2B5EF4-FFF2-40B4-BE49-F238E27FC236}">
                <a16:creationId xmlns:a16="http://schemas.microsoft.com/office/drawing/2014/main" id="{860FC462-AE72-F78A-6603-AB68DC8C8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53" y="4650012"/>
            <a:ext cx="7725853" cy="2200582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12DF1E56-49A4-68B5-CEE7-F45C464C82BD}"/>
              </a:ext>
            </a:extLst>
          </p:cNvPr>
          <p:cNvSpPr/>
          <p:nvPr/>
        </p:nvSpPr>
        <p:spPr>
          <a:xfrm>
            <a:off x="6788839" y="1853276"/>
            <a:ext cx="1052721" cy="660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zh-TW" altLang="en-US" sz="3500" dirty="0"/>
              <a:t>查尋新的城市他會重新跟</a:t>
            </a:r>
            <a:r>
              <a:rPr lang="en-US" altLang="zh-TW" sz="3500" dirty="0" err="1"/>
              <a:t>api</a:t>
            </a:r>
            <a:r>
              <a:rPr lang="zh-TW" altLang="en-US" sz="3500" dirty="0"/>
              <a:t>拿資料</a:t>
            </a:r>
            <a:br>
              <a:rPr lang="en-US" altLang="zh-TW" sz="3500" dirty="0"/>
            </a:br>
            <a:r>
              <a:rPr lang="zh-TW" altLang="en-US" sz="3500" dirty="0"/>
              <a:t>來更新天氣資訊</a:t>
            </a:r>
            <a:endParaRPr lang="en-US" altLang="zh-TW" sz="3500" dirty="0"/>
          </a:p>
          <a:p>
            <a:pPr marL="0" indent="0" algn="l">
              <a:lnSpc>
                <a:spcPts val="4400"/>
              </a:lnSpc>
              <a:buNone/>
            </a:pP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1499818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935486"/>
            <a:ext cx="6757988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 err="1">
                <a:solidFill>
                  <a:srgbClr val="2D4DF2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專案摘要：現代化天氣資訊儀表板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397752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專案目標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：打造即時、直觀且具備數據分析能力的氣象平台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44424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核心價值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：結合 Python 後端運算，不只是顯示天氣，更能分析趨勢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91097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主要特色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：即時大數據統計、背景災害監控、玻璃擬態 UI 設計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055971"/>
            <a:ext cx="6378297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2D4DF2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系統架構 (System Architecture)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37724" y="3098006"/>
            <a:ext cx="6357818" cy="1418153"/>
          </a:xfrm>
          <a:prstGeom prst="roundRect">
            <a:avLst>
              <a:gd name="adj" fmla="val 10317"/>
            </a:avLst>
          </a:prstGeom>
          <a:solidFill>
            <a:srgbClr val="F3F3FF">
              <a:alpha val="95000"/>
            </a:srgbClr>
          </a:solidFill>
          <a:ln w="30480">
            <a:solidFill>
              <a:srgbClr val="B5BC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7244" y="3098006"/>
            <a:ext cx="121920" cy="1418153"/>
          </a:xfrm>
          <a:prstGeom prst="roundRect">
            <a:avLst>
              <a:gd name="adj" fmla="val 82464"/>
            </a:avLst>
          </a:prstGeom>
          <a:solidFill>
            <a:srgbClr val="2D4DF2"/>
          </a:solidFill>
          <a:ln/>
        </p:spPr>
      </p:sp>
      <p:sp>
        <p:nvSpPr>
          <p:cNvPr id="5" name="Text 3"/>
          <p:cNvSpPr/>
          <p:nvPr/>
        </p:nvSpPr>
        <p:spPr>
          <a:xfrm>
            <a:off x="1198959" y="336780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前端 (Frontend)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98959" y="3863340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HTML5 + CSS3 (Glassmorphism) + JavaScript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7434858" y="3098006"/>
            <a:ext cx="6357818" cy="1418153"/>
          </a:xfrm>
          <a:prstGeom prst="roundRect">
            <a:avLst>
              <a:gd name="adj" fmla="val 10317"/>
            </a:avLst>
          </a:prstGeom>
          <a:solidFill>
            <a:srgbClr val="F3F3FF">
              <a:alpha val="95000"/>
            </a:srgbClr>
          </a:solidFill>
          <a:ln w="30480">
            <a:solidFill>
              <a:srgbClr val="B5BC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4378" y="3098006"/>
            <a:ext cx="121920" cy="1418153"/>
          </a:xfrm>
          <a:prstGeom prst="roundRect">
            <a:avLst>
              <a:gd name="adj" fmla="val 82464"/>
            </a:avLst>
          </a:prstGeom>
          <a:solidFill>
            <a:srgbClr val="2D4DF2"/>
          </a:solidFill>
          <a:ln/>
        </p:spPr>
      </p:sp>
      <p:sp>
        <p:nvSpPr>
          <p:cNvPr id="9" name="Text 7"/>
          <p:cNvSpPr/>
          <p:nvPr/>
        </p:nvSpPr>
        <p:spPr>
          <a:xfrm>
            <a:off x="7796093" y="336780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後端 (Backend)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96093" y="3863340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837724" y="4755475"/>
            <a:ext cx="6357818" cy="1418153"/>
          </a:xfrm>
          <a:prstGeom prst="roundRect">
            <a:avLst>
              <a:gd name="adj" fmla="val 10317"/>
            </a:avLst>
          </a:prstGeom>
          <a:solidFill>
            <a:srgbClr val="F3F3FF">
              <a:alpha val="95000"/>
            </a:srgbClr>
          </a:solidFill>
          <a:ln w="30480">
            <a:solidFill>
              <a:srgbClr val="B5BC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7244" y="4755475"/>
            <a:ext cx="121920" cy="1418153"/>
          </a:xfrm>
          <a:prstGeom prst="roundRect">
            <a:avLst>
              <a:gd name="adj" fmla="val 82464"/>
            </a:avLst>
          </a:prstGeom>
          <a:solidFill>
            <a:srgbClr val="2D4DF2"/>
          </a:solidFill>
          <a:ln/>
        </p:spPr>
      </p:sp>
      <p:sp>
        <p:nvSpPr>
          <p:cNvPr id="13" name="Text 11"/>
          <p:cNvSpPr/>
          <p:nvPr/>
        </p:nvSpPr>
        <p:spPr>
          <a:xfrm>
            <a:off x="1198959" y="502527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資料庫 (Database)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98959" y="5520809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SQLite (輕量級資料庫)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7434858" y="4755475"/>
            <a:ext cx="6357818" cy="1418153"/>
          </a:xfrm>
          <a:prstGeom prst="roundRect">
            <a:avLst>
              <a:gd name="adj" fmla="val 10317"/>
            </a:avLst>
          </a:prstGeom>
          <a:solidFill>
            <a:srgbClr val="F3F3FF">
              <a:alpha val="95000"/>
            </a:srgbClr>
          </a:solidFill>
          <a:ln w="30480">
            <a:solidFill>
              <a:srgbClr val="B5BC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4378" y="4755475"/>
            <a:ext cx="121920" cy="1418153"/>
          </a:xfrm>
          <a:prstGeom prst="roundRect">
            <a:avLst>
              <a:gd name="adj" fmla="val 82464"/>
            </a:avLst>
          </a:prstGeom>
          <a:solidFill>
            <a:srgbClr val="2D4DF2"/>
          </a:solidFill>
          <a:ln/>
        </p:spPr>
      </p:sp>
      <p:sp>
        <p:nvSpPr>
          <p:cNvPr id="17" name="Text 15"/>
          <p:cNvSpPr/>
          <p:nvPr/>
        </p:nvSpPr>
        <p:spPr>
          <a:xfrm>
            <a:off x="7796093" y="502527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資料源 (Data Source)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96093" y="5520809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中央氣象署 (CWA) + 環境部 (EPA) Open Data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EAB74005-7F2D-B2CC-5927-BD3B16D81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490902"/>
              </p:ext>
            </p:extLst>
          </p:nvPr>
        </p:nvGraphicFramePr>
        <p:xfrm>
          <a:off x="2438400" y="1181527"/>
          <a:ext cx="9753600" cy="578435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678130">
                  <a:extLst>
                    <a:ext uri="{9D8B030D-6E8A-4147-A177-3AD203B41FA5}">
                      <a16:colId xmlns:a16="http://schemas.microsoft.com/office/drawing/2014/main" val="1223536640"/>
                    </a:ext>
                  </a:extLst>
                </a:gridCol>
                <a:gridCol w="7075470">
                  <a:extLst>
                    <a:ext uri="{9D8B030D-6E8A-4147-A177-3AD203B41FA5}">
                      <a16:colId xmlns:a16="http://schemas.microsoft.com/office/drawing/2014/main" val="3203096641"/>
                    </a:ext>
                  </a:extLst>
                </a:gridCol>
              </a:tblGrid>
              <a:tr h="642706">
                <a:tc>
                  <a:txBody>
                    <a:bodyPr/>
                    <a:lstStyle/>
                    <a:p>
                      <a:r>
                        <a:rPr lang="zh-TW" altLang="en-US" dirty="0"/>
                        <a:t>功能表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7957614"/>
                  </a:ext>
                </a:extLst>
              </a:tr>
              <a:tr h="642706">
                <a:tc>
                  <a:txBody>
                    <a:bodyPr/>
                    <a:lstStyle/>
                    <a:p>
                      <a:r>
                        <a:rPr lang="zh-TW" altLang="en-US" dirty="0"/>
                        <a:t>自動定位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48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160" b="0" kern="1200" dirty="0">
                          <a:solidFill>
                            <a:schemeClr val="dk1"/>
                          </a:solidFill>
                          <a:effectLst/>
                        </a:rPr>
                        <a:t>GPS </a:t>
                      </a:r>
                      <a:r>
                        <a:rPr lang="zh-TW" altLang="en-US" sz="2160" b="0" kern="1200" dirty="0">
                          <a:solidFill>
                            <a:schemeClr val="dk1"/>
                          </a:solidFill>
                          <a:effectLst/>
                        </a:rPr>
                        <a:t>自動偵測，秒速鎖定所在城市。</a:t>
                      </a:r>
                      <a:endParaRPr lang="zh-TW" altLang="en-US" sz="216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7553396"/>
                  </a:ext>
                </a:extLst>
              </a:tr>
              <a:tr h="642706">
                <a:tc>
                  <a:txBody>
                    <a:bodyPr/>
                    <a:lstStyle/>
                    <a:p>
                      <a:r>
                        <a:rPr lang="zh-TW" altLang="en-US" dirty="0"/>
                        <a:t>即時天氣數據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48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160" b="0" kern="1200" dirty="0">
                          <a:solidFill>
                            <a:schemeClr val="dk1"/>
                          </a:solidFill>
                          <a:effectLst/>
                        </a:rPr>
                        <a:t>溫度、體感、濕度、紫外線一目了然。</a:t>
                      </a:r>
                      <a:endParaRPr lang="zh-TW" altLang="en-US" sz="216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232847"/>
                  </a:ext>
                </a:extLst>
              </a:tr>
              <a:tr h="642706">
                <a:tc>
                  <a:txBody>
                    <a:bodyPr/>
                    <a:lstStyle/>
                    <a:p>
                      <a:r>
                        <a:rPr lang="zh-TW" altLang="en-US" dirty="0"/>
                        <a:t>未來一週預報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48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160" b="0" kern="1200" dirty="0">
                          <a:solidFill>
                            <a:schemeClr val="dk1"/>
                          </a:solidFill>
                          <a:effectLst/>
                        </a:rPr>
                        <a:t>7 </a:t>
                      </a:r>
                      <a:r>
                        <a:rPr lang="zh-TW" altLang="en-US" sz="2160" b="0" kern="1200" dirty="0">
                          <a:solidFill>
                            <a:schemeClr val="dk1"/>
                          </a:solidFill>
                          <a:effectLst/>
                        </a:rPr>
                        <a:t>天溫差趨勢與降雨機率預測。</a:t>
                      </a:r>
                      <a:endParaRPr lang="zh-TW" altLang="en-US" sz="216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191465"/>
                  </a:ext>
                </a:extLst>
              </a:tr>
              <a:tr h="642706">
                <a:tc>
                  <a:txBody>
                    <a:bodyPr/>
                    <a:lstStyle/>
                    <a:p>
                      <a:r>
                        <a:rPr lang="zh-TW" altLang="en-US" dirty="0"/>
                        <a:t>智慧穿搭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48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160" b="0" kern="1200" dirty="0">
                          <a:solidFill>
                            <a:schemeClr val="dk1"/>
                          </a:solidFill>
                          <a:effectLst/>
                        </a:rPr>
                        <a:t>依據「體感溫度」推薦洋蔥式穿搭或帶傘。</a:t>
                      </a:r>
                      <a:endParaRPr lang="zh-TW" altLang="en-US" sz="216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7887679"/>
                  </a:ext>
                </a:extLst>
              </a:tr>
              <a:tr h="642706">
                <a:tc>
                  <a:txBody>
                    <a:bodyPr/>
                    <a:lstStyle/>
                    <a:p>
                      <a:r>
                        <a:rPr lang="zh-TW" altLang="en-US" dirty="0"/>
                        <a:t>空氣品質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48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160" b="0" kern="1200" dirty="0">
                          <a:solidFill>
                            <a:schemeClr val="dk1"/>
                          </a:solidFill>
                          <a:effectLst/>
                        </a:rPr>
                        <a:t>紅綠燈號警示，即時掌握 </a:t>
                      </a:r>
                      <a:r>
                        <a:rPr lang="en-US" altLang="zh-TW" sz="2160" b="0" kern="1200" dirty="0">
                          <a:solidFill>
                            <a:schemeClr val="dk1"/>
                          </a:solidFill>
                          <a:effectLst/>
                        </a:rPr>
                        <a:t>PM2.5 </a:t>
                      </a:r>
                      <a:r>
                        <a:rPr lang="zh-TW" altLang="en-US" sz="2160" b="0" kern="1200" dirty="0">
                          <a:solidFill>
                            <a:schemeClr val="dk1"/>
                          </a:solidFill>
                          <a:effectLst/>
                        </a:rPr>
                        <a:t>狀況。</a:t>
                      </a:r>
                      <a:endParaRPr lang="zh-TW" altLang="en-US" sz="216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873864"/>
                  </a:ext>
                </a:extLst>
              </a:tr>
              <a:tr h="642706">
                <a:tc>
                  <a:txBody>
                    <a:bodyPr/>
                    <a:lstStyle/>
                    <a:p>
                      <a:r>
                        <a:rPr lang="zh-TW" altLang="en-US" dirty="0"/>
                        <a:t>動態雷達圖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48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160" b="0" kern="1200" dirty="0">
                          <a:solidFill>
                            <a:schemeClr val="dk1"/>
                          </a:solidFill>
                          <a:effectLst/>
                        </a:rPr>
                        <a:t>整合氣象署回波圖，視覺化雨雲動向。</a:t>
                      </a:r>
                      <a:endParaRPr lang="zh-TW" altLang="en-US" sz="216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2676327"/>
                  </a:ext>
                </a:extLst>
              </a:tr>
              <a:tr h="642706">
                <a:tc>
                  <a:txBody>
                    <a:bodyPr/>
                    <a:lstStyle/>
                    <a:p>
                      <a:r>
                        <a:rPr lang="zh-TW" altLang="en-US" dirty="0"/>
                        <a:t>語音查詢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48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160" b="0" kern="1200" dirty="0">
                          <a:solidFill>
                            <a:schemeClr val="dk1"/>
                          </a:solidFill>
                          <a:effectLst/>
                        </a:rPr>
                        <a:t>支援「語音輸入查詢」與「天氣語音播報」。</a:t>
                      </a:r>
                      <a:endParaRPr lang="zh-TW" altLang="en-US" sz="216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1249663"/>
                  </a:ext>
                </a:extLst>
              </a:tr>
              <a:tr h="642706">
                <a:tc>
                  <a:txBody>
                    <a:bodyPr/>
                    <a:lstStyle/>
                    <a:p>
                      <a:r>
                        <a:rPr lang="zh-TW" altLang="en-US" dirty="0"/>
                        <a:t>關鍵字搜尋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48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160" b="0" kern="1200" dirty="0">
                          <a:solidFill>
                            <a:schemeClr val="dk1"/>
                          </a:solidFill>
                          <a:effectLst/>
                        </a:rPr>
                        <a:t>支援中英文輸入 </a:t>
                      </a:r>
                      <a:r>
                        <a:rPr lang="en-US" altLang="zh-TW" sz="2160" b="0" kern="1200" dirty="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  <a:r>
                        <a:rPr lang="zh-TW" altLang="en-US" sz="2160" b="0" kern="1200" dirty="0">
                          <a:solidFill>
                            <a:schemeClr val="dk1"/>
                          </a:solidFill>
                          <a:effectLst/>
                        </a:rPr>
                        <a:t>如</a:t>
                      </a:r>
                      <a:r>
                        <a:rPr lang="en-US" altLang="zh-TW" sz="2160" b="0" kern="1200" dirty="0">
                          <a:solidFill>
                            <a:schemeClr val="dk1"/>
                          </a:solidFill>
                          <a:effectLst/>
                        </a:rPr>
                        <a:t>: </a:t>
                      </a:r>
                      <a:r>
                        <a:rPr lang="zh-TW" altLang="en-US" sz="2160" b="0" kern="1200" dirty="0">
                          <a:solidFill>
                            <a:schemeClr val="dk1"/>
                          </a:solidFill>
                          <a:effectLst/>
                        </a:rPr>
                        <a:t>台中</a:t>
                      </a:r>
                      <a:r>
                        <a:rPr lang="en-US" altLang="zh-TW" sz="2160" b="0" kern="1200" dirty="0">
                          <a:solidFill>
                            <a:schemeClr val="dk1"/>
                          </a:solidFill>
                          <a:effectLst/>
                        </a:rPr>
                        <a:t>/Taipei)</a:t>
                      </a:r>
                      <a:r>
                        <a:rPr lang="zh-TW" altLang="en-US" sz="2160" b="0" kern="1200" dirty="0">
                          <a:solidFill>
                            <a:schemeClr val="dk1"/>
                          </a:solidFill>
                          <a:effectLst/>
                        </a:rPr>
                        <a:t>。</a:t>
                      </a:r>
                      <a:endParaRPr lang="zh-TW" altLang="en-US" sz="216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8024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662BE282-89E2-0FFC-3012-B73828067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922349"/>
              </p:ext>
            </p:extLst>
          </p:nvPr>
        </p:nvGraphicFramePr>
        <p:xfrm>
          <a:off x="2438400" y="1181527"/>
          <a:ext cx="9753600" cy="578435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678130">
                  <a:extLst>
                    <a:ext uri="{9D8B030D-6E8A-4147-A177-3AD203B41FA5}">
                      <a16:colId xmlns:a16="http://schemas.microsoft.com/office/drawing/2014/main" val="1223536640"/>
                    </a:ext>
                  </a:extLst>
                </a:gridCol>
                <a:gridCol w="7075470">
                  <a:extLst>
                    <a:ext uri="{9D8B030D-6E8A-4147-A177-3AD203B41FA5}">
                      <a16:colId xmlns:a16="http://schemas.microsoft.com/office/drawing/2014/main" val="3203096641"/>
                    </a:ext>
                  </a:extLst>
                </a:gridCol>
              </a:tblGrid>
              <a:tr h="642706">
                <a:tc>
                  <a:txBody>
                    <a:bodyPr/>
                    <a:lstStyle/>
                    <a:p>
                      <a:r>
                        <a:rPr lang="zh-TW" altLang="en-US" dirty="0"/>
                        <a:t>後端技術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7957614"/>
                  </a:ext>
                </a:extLst>
              </a:tr>
              <a:tr h="642706">
                <a:tc>
                  <a:txBody>
                    <a:bodyPr/>
                    <a:lstStyle/>
                    <a:p>
                      <a:r>
                        <a:rPr lang="zh-TW" altLang="en-US" dirty="0"/>
                        <a:t>雙</a:t>
                      </a:r>
                      <a:r>
                        <a:rPr lang="en-US" altLang="zh-TW" dirty="0"/>
                        <a:t>API</a:t>
                      </a:r>
                      <a:r>
                        <a:rPr lang="zh-TW" altLang="en-US" dirty="0"/>
                        <a:t>串接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整合氣象署 </a:t>
                      </a:r>
                      <a:r>
                        <a:rPr lang="en-US" altLang="zh-TW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(CWA) </a:t>
                      </a:r>
                      <a:r>
                        <a:rPr lang="zh-TW" altLang="en-US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與 環境部 </a:t>
                      </a:r>
                      <a:r>
                        <a:rPr lang="en-US" altLang="zh-TW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(EPA) </a:t>
                      </a:r>
                      <a:r>
                        <a:rPr lang="zh-TW" altLang="en-US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開放資料。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7553396"/>
                  </a:ext>
                </a:extLst>
              </a:tr>
              <a:tr h="642706">
                <a:tc>
                  <a:txBody>
                    <a:bodyPr/>
                    <a:lstStyle/>
                    <a:p>
                      <a:pPr marL="0" marR="0" lvl="0" indent="0" algn="l" defTabSz="548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16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資料解析與正規化</a:t>
                      </a:r>
                      <a:endParaRPr lang="zh-TW" altLang="en-US" sz="216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48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解析複雜 </a:t>
                      </a:r>
                      <a:r>
                        <a:rPr lang="en-US" altLang="zh-TW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JSON </a:t>
                      </a:r>
                      <a:r>
                        <a:rPr lang="zh-TW" altLang="en-US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結構，將原始資料轉換為統一格式。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232847"/>
                  </a:ext>
                </a:extLst>
              </a:tr>
              <a:tr h="642706">
                <a:tc>
                  <a:txBody>
                    <a:bodyPr/>
                    <a:lstStyle/>
                    <a:p>
                      <a:r>
                        <a:rPr lang="zh-TW" altLang="en-US" dirty="0"/>
                        <a:t>自動儲存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SQLite </a:t>
                      </a:r>
                      <a:r>
                        <a:rPr lang="zh-TW" altLang="en-US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資料庫自動記錄每一次查詢。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191465"/>
                  </a:ext>
                </a:extLst>
              </a:tr>
              <a:tr h="642706">
                <a:tc>
                  <a:txBody>
                    <a:bodyPr/>
                    <a:lstStyle/>
                    <a:p>
                      <a:r>
                        <a:rPr lang="zh-TW" altLang="en-US" sz="216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大數據分析</a:t>
                      </a:r>
                      <a:endParaRPr lang="zh-TW" altLang="en-US" sz="216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Pandas </a:t>
                      </a:r>
                      <a:r>
                        <a:rPr lang="zh-TW" altLang="en-US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計算平均溫、歷史極值與趨勢。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7887679"/>
                  </a:ext>
                </a:extLst>
              </a:tr>
              <a:tr h="642706">
                <a:tc>
                  <a:txBody>
                    <a:bodyPr/>
                    <a:lstStyle/>
                    <a:p>
                      <a:pPr marL="0" marR="0" lvl="0" indent="0" algn="l" defTabSz="548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16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背景災害監控</a:t>
                      </a:r>
                      <a:endParaRPr lang="zh-TW" altLang="en-US" sz="216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48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Threading </a:t>
                      </a:r>
                      <a:r>
                        <a:rPr lang="zh-TW" altLang="en-US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多執行緒，</a:t>
                      </a:r>
                      <a:r>
                        <a:rPr lang="en-US" altLang="zh-TW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r>
                        <a:rPr lang="zh-TW" altLang="en-US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小時監控颱風警報。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873864"/>
                  </a:ext>
                </a:extLst>
              </a:tr>
              <a:tr h="642706">
                <a:tc>
                  <a:txBody>
                    <a:bodyPr/>
                    <a:lstStyle/>
                    <a:p>
                      <a:pPr marL="0" marR="0" lvl="0" indent="0" algn="l" defTabSz="548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16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系統穩定性防護機制</a:t>
                      </a:r>
                      <a:endParaRPr lang="zh-TW" altLang="en-US" sz="216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48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導入 </a:t>
                      </a:r>
                      <a:r>
                        <a:rPr lang="en-US" altLang="zh-TW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Try-Except </a:t>
                      </a:r>
                      <a:r>
                        <a:rPr lang="zh-TW" altLang="en-US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容錯設計，防止 </a:t>
                      </a:r>
                      <a:r>
                        <a:rPr lang="en-US" altLang="zh-TW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 </a:t>
                      </a:r>
                      <a:r>
                        <a:rPr lang="zh-TW" altLang="en-US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連線異常造成當機。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2676327"/>
                  </a:ext>
                </a:extLst>
              </a:tr>
              <a:tr h="642706">
                <a:tc>
                  <a:txBody>
                    <a:bodyPr/>
                    <a:lstStyle/>
                    <a:p>
                      <a:r>
                        <a:rPr lang="zh-TW" altLang="en-US" sz="216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資料報表匯出</a:t>
                      </a:r>
                      <a:endParaRPr lang="zh-TW" altLang="en-US" sz="216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486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一鍵將資料庫轉為 </a:t>
                      </a:r>
                      <a:r>
                        <a:rPr lang="en-US" altLang="zh-TW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Excel </a:t>
                      </a:r>
                      <a:r>
                        <a:rPr lang="zh-TW" altLang="en-US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報表下載。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1249663"/>
                  </a:ext>
                </a:extLst>
              </a:tr>
              <a:tr h="642706">
                <a:tc>
                  <a:txBody>
                    <a:bodyPr/>
                    <a:lstStyle/>
                    <a:p>
                      <a:r>
                        <a:rPr lang="zh-TW" altLang="en-US" sz="216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模組化開發</a:t>
                      </a:r>
                      <a:endParaRPr lang="zh-TW" altLang="en-US" sz="216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MVC </a:t>
                      </a:r>
                      <a:r>
                        <a:rPr lang="zh-TW" altLang="en-US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架構分離 </a:t>
                      </a:r>
                      <a:r>
                        <a:rPr lang="en-US" altLang="zh-TW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(API, Logic, View)</a:t>
                      </a:r>
                      <a:r>
                        <a:rPr lang="zh-TW" altLang="en-US" sz="216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，易於維護。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8024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>
            <a:extLst>
              <a:ext uri="{FF2B5EF4-FFF2-40B4-BE49-F238E27FC236}">
                <a16:creationId xmlns:a16="http://schemas.microsoft.com/office/drawing/2014/main" id="{2A36C09E-B046-16E5-3A26-045D7D312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3956"/>
            <a:ext cx="14630400" cy="7121687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53D892EB-6346-59D4-952A-8C2094AE6C44}"/>
              </a:ext>
            </a:extLst>
          </p:cNvPr>
          <p:cNvSpPr/>
          <p:nvPr/>
        </p:nvSpPr>
        <p:spPr>
          <a:xfrm>
            <a:off x="0" y="7351"/>
            <a:ext cx="6757988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zh-TW" altLang="en-US" sz="3500" dirty="0">
                <a:solidFill>
                  <a:srgbClr val="2D4DF2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流程圖</a:t>
            </a:r>
            <a:endParaRPr lang="en-US" sz="3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BCF6135-0640-E2F1-C1D1-75FB1E0E3560}"/>
              </a:ext>
            </a:extLst>
          </p:cNvPr>
          <p:cNvSpPr/>
          <p:nvPr/>
        </p:nvSpPr>
        <p:spPr>
          <a:xfrm>
            <a:off x="837724" y="2055971"/>
            <a:ext cx="4309629" cy="1642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zh-TW" altLang="en-US" sz="5400" dirty="0">
                <a:solidFill>
                  <a:srgbClr val="2D4DF2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謝謝大家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6036653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有機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有機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有機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640</TotalTime>
  <Words>369</Words>
  <Application>Microsoft Office PowerPoint</Application>
  <PresentationFormat>自訂</PresentationFormat>
  <Paragraphs>66</Paragraphs>
  <Slides>11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PT Sans</vt:lpstr>
      <vt:lpstr>Arial</vt:lpstr>
      <vt:lpstr>Nunito Semi Bold</vt:lpstr>
      <vt:lpstr>Garamond</vt:lpstr>
      <vt:lpstr>有機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博源 陳</cp:lastModifiedBy>
  <cp:revision>14</cp:revision>
  <dcterms:created xsi:type="dcterms:W3CDTF">2026-01-01T16:49:18Z</dcterms:created>
  <dcterms:modified xsi:type="dcterms:W3CDTF">2026-01-09T06:38:07Z</dcterms:modified>
</cp:coreProperties>
</file>